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T Neuzeit" charset="1" panose="00000000000000000000"/>
      <p:regular r:id="rId16"/>
    </p:embeddedFont>
    <p:embeddedFont>
      <p:font typeface="Mukta Mahee" charset="1" panose="020B0000000000000000"/>
      <p:regular r:id="rId17"/>
    </p:embeddedFont>
    <p:embeddedFont>
      <p:font typeface="Mukta Mahee Bold" charset="1" panose="020B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20393" y="4006962"/>
            <a:ext cx="10911934" cy="251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2"/>
              </a:lnSpc>
            </a:pPr>
            <a:r>
              <a:rPr lang="en-US" sz="7158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 RANKLENS - </a:t>
            </a:r>
          </a:p>
          <a:p>
            <a:pPr algn="ctr">
              <a:lnSpc>
                <a:spcPts val="6442"/>
              </a:lnSpc>
            </a:pPr>
            <a:r>
              <a:rPr lang="en-US" sz="7158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A MOBILE SEARCH ENGINE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06436" y="3333639"/>
            <a:ext cx="237564" cy="5444165"/>
          </a:xfrm>
          <a:custGeom>
            <a:avLst/>
            <a:gdLst/>
            <a:ahLst/>
            <a:cxnLst/>
            <a:rect r="r" b="b" t="t" l="l"/>
            <a:pathLst>
              <a:path h="5444165" w="237564">
                <a:moveTo>
                  <a:pt x="0" y="0"/>
                </a:moveTo>
                <a:lnTo>
                  <a:pt x="237564" y="0"/>
                </a:lnTo>
                <a:lnTo>
                  <a:pt x="237564" y="5444165"/>
                </a:lnTo>
                <a:lnTo>
                  <a:pt x="0" y="54441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7241" y="3224877"/>
            <a:ext cx="6648507" cy="94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7"/>
              </a:lnSpc>
            </a:pPr>
            <a:r>
              <a:rPr lang="en-US" sz="74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SUBMITTED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4229" y="4939185"/>
            <a:ext cx="5994530" cy="131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Md. Omayer Hasan Muhit</a:t>
            </a: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 </a:t>
            </a: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ID: 2215151135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4229" y="7054834"/>
            <a:ext cx="5994530" cy="131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Sayeda Ferdoushi Islam</a:t>
            </a:r>
          </a:p>
          <a:p>
            <a:pPr algn="l">
              <a:lnSpc>
                <a:spcPts val="3442"/>
              </a:lnSpc>
            </a:pP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ID :2215151148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7791" y="3103720"/>
            <a:ext cx="6648507" cy="94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7"/>
              </a:lnSpc>
            </a:pPr>
            <a:r>
              <a:rPr lang="en-US" sz="74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SUBMITTED 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23932" y="4771555"/>
            <a:ext cx="6318624" cy="131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Tahmina Yeasmin Lima</a:t>
            </a: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Lecturer,</a:t>
            </a: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Dept of CSE,UITS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23932" y="6579061"/>
            <a:ext cx="5994530" cy="174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Paban Shaha</a:t>
            </a: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Lecturer,</a:t>
            </a:r>
          </a:p>
          <a:p>
            <a:pPr algn="l">
              <a:lnSpc>
                <a:spcPts val="3442"/>
              </a:lnSpc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Dept of CSE,UITS</a:t>
            </a:r>
          </a:p>
          <a:p>
            <a:pPr algn="l">
              <a:lnSpc>
                <a:spcPts val="344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93555" y="3103977"/>
            <a:ext cx="5500889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9758" y="4412524"/>
            <a:ext cx="12348484" cy="267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Ranklens is an Android mobile search engine. 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BM25 is used to rank content. 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Incorporates PageRank/HITS link analysis optionally. 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Includes using Material UI 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10483" y="3103977"/>
            <a:ext cx="8067034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9758" y="4412524"/>
            <a:ext cx="12348484" cy="267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Web data explosion necessitates effective retrieval.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Ranklens incorporates infrared algorithms into a mobile application. 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Shows real-time hybrid ranking.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10483" y="2666465"/>
            <a:ext cx="10399329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LITERATURE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1242" y="3975012"/>
            <a:ext cx="10058855" cy="334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2"/>
              </a:lnSpc>
            </a:pPr>
            <a:r>
              <a:rPr lang="en-US" sz="3852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Vector Space Model and TF-IDF. </a:t>
            </a:r>
          </a:p>
          <a:p>
            <a:pPr algn="l">
              <a:lnSpc>
                <a:spcPts val="5392"/>
              </a:lnSpc>
            </a:pPr>
            <a:r>
              <a:rPr lang="en-US" sz="3852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A probabilistic IR model is BM25. </a:t>
            </a:r>
          </a:p>
          <a:p>
            <a:pPr algn="l">
              <a:lnSpc>
                <a:spcPts val="5392"/>
              </a:lnSpc>
            </a:pPr>
            <a:r>
              <a:rPr lang="en-US" sz="3852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For link-based ranking, use PageRank and HITS.</a:t>
            </a:r>
          </a:p>
          <a:p>
            <a:pPr algn="l">
              <a:lnSpc>
                <a:spcPts val="5392"/>
              </a:lnSpc>
            </a:pPr>
            <a:r>
              <a:rPr lang="en-US" sz="3852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Lightweight retrieval using mobile infrared systems.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2733" y="4115890"/>
            <a:ext cx="514245" cy="40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sz="3155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2733" y="4774949"/>
            <a:ext cx="514245" cy="40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sz="3155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2733" y="5432011"/>
            <a:ext cx="514245" cy="40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sz="3155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52733" y="6091070"/>
            <a:ext cx="514245" cy="40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sz="3155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4.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10483" y="2666465"/>
            <a:ext cx="8067034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1327" y="4531643"/>
            <a:ext cx="13455507" cy="218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9905" indent="-449953" lvl="1">
              <a:lnSpc>
                <a:spcPts val="5835"/>
              </a:lnSpc>
              <a:buFont typeface="Arial"/>
              <a:buChar char="•"/>
            </a:pPr>
            <a:r>
              <a:rPr lang="en-US" sz="4168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Colab crawling and indexing .</a:t>
            </a:r>
          </a:p>
          <a:p>
            <a:pPr algn="l" marL="899905" indent="-449953" lvl="1">
              <a:lnSpc>
                <a:spcPts val="5835"/>
              </a:lnSpc>
              <a:buFont typeface="Arial"/>
              <a:buChar char="•"/>
            </a:pPr>
            <a:r>
              <a:rPr lang="en-US" sz="4168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 BM25 + link score blending is the ranking model. </a:t>
            </a:r>
          </a:p>
          <a:p>
            <a:pPr algn="l" marL="899905" indent="-449953" lvl="1">
              <a:lnSpc>
                <a:spcPts val="5835"/>
              </a:lnSpc>
              <a:buFont typeface="Arial"/>
              <a:buChar char="•"/>
            </a:pPr>
            <a:r>
              <a:rPr lang="en-US" sz="4168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RecyclerView on the front end of an Android app.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10483" y="3103977"/>
            <a:ext cx="8067034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DISCUSSION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9758" y="4412524"/>
            <a:ext cx="12348484" cy="335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868" indent="-412934" lvl="1">
              <a:lnSpc>
                <a:spcPts val="5355"/>
              </a:lnSpc>
              <a:buAutoNum type="arabicPeriod" startAt="1"/>
            </a:pPr>
            <a:r>
              <a:rPr lang="en-US" b="true" sz="3825">
                <a:solidFill>
                  <a:srgbClr val="4D6259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Strengths: </a:t>
            </a: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Link scores lower spam and BM25 relevance. </a:t>
            </a:r>
          </a:p>
          <a:p>
            <a:pPr algn="l" marL="825868" indent="-412934" lvl="1">
              <a:lnSpc>
                <a:spcPts val="5355"/>
              </a:lnSpc>
              <a:buAutoNum type="arabicPeriod" startAt="1"/>
            </a:pPr>
            <a:r>
              <a:rPr lang="en-US" b="true" sz="3825">
                <a:solidFill>
                  <a:srgbClr val="4D6259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Limitations: </a:t>
            </a: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No live crawling, small dataset. </a:t>
            </a:r>
          </a:p>
          <a:p>
            <a:pPr algn="l" marL="825868" indent="-412934" lvl="1">
              <a:lnSpc>
                <a:spcPts val="5355"/>
              </a:lnSpc>
              <a:buAutoNum type="arabicPeriod" startAt="1"/>
            </a:pPr>
            <a:r>
              <a:rPr lang="en-US" b="true" sz="3825">
                <a:solidFill>
                  <a:srgbClr val="4D6259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Future Projects:</a:t>
            </a: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 Firebase integration and neural embeddings.</a:t>
            </a:r>
          </a:p>
          <a:p>
            <a:pPr algn="r">
              <a:lnSpc>
                <a:spcPts val="535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10483" y="3103977"/>
            <a:ext cx="8067034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9758" y="4412524"/>
            <a:ext cx="12348484" cy="335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Ranklens uses a mobile device to demonstrate IR models. 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Integrates link analysis and BM25. 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Offers both scholarly and useful insights.</a:t>
            </a:r>
          </a:p>
          <a:p>
            <a:pPr algn="l" marL="825868" indent="-412934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Foundation for upcoming studies on mobile infrared.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44336" y="3103977"/>
            <a:ext cx="10399329" cy="101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8063" u="sng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8188" y="4487655"/>
            <a:ext cx="13017693" cy="449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23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[1]</a:t>
            </a:r>
            <a:r>
              <a:rPr lang="en-US" sz="3223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 J. Kleinberg, “Authoritative sources in a hyperlinked environment,” Journal of the ACM, vol. 46, no. 5, pp. 604–632, 1999.</a:t>
            </a:r>
          </a:p>
          <a:p>
            <a:pPr algn="l">
              <a:lnSpc>
                <a:spcPts val="4512"/>
              </a:lnSpc>
            </a:pPr>
            <a:r>
              <a:rPr lang="en-US" sz="3223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[2] S. Robertson, “The BM25 scoring function: BM25 and beyond,” 2009.</a:t>
            </a:r>
          </a:p>
          <a:p>
            <a:pPr algn="l">
              <a:lnSpc>
                <a:spcPts val="4512"/>
              </a:lnSpc>
            </a:pPr>
            <a:r>
              <a:rPr lang="en-US" sz="3223">
                <a:solidFill>
                  <a:srgbClr val="4D6259"/>
                </a:solidFill>
                <a:latin typeface="Mukta Mahee"/>
                <a:ea typeface="Mukta Mahee"/>
                <a:cs typeface="Mukta Mahee"/>
                <a:sym typeface="Mukta Mahee"/>
              </a:rPr>
              <a:t>[3] S. Brin and L. Page, “The anatomy of a large-scale hypertextual web search engine,” Computer Networks and ISDN Systems, vol. 30, no. 1–7, pp. 107–117, 1998.</a:t>
            </a:r>
          </a:p>
          <a:p>
            <a:pPr algn="l">
              <a:lnSpc>
                <a:spcPts val="4512"/>
              </a:lnSpc>
            </a:pPr>
          </a:p>
          <a:p>
            <a:pPr algn="ctr">
              <a:lnSpc>
                <a:spcPts val="451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1052">
            <a:off x="-2167013" y="-2000309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0" y="0"/>
                </a:moveTo>
                <a:lnTo>
                  <a:pt x="10018399" y="0"/>
                </a:lnTo>
                <a:lnTo>
                  <a:pt x="10018399" y="4444526"/>
                </a:lnTo>
                <a:lnTo>
                  <a:pt x="0" y="44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331052">
            <a:off x="10658539" y="8064737"/>
            <a:ext cx="10018399" cy="4444526"/>
          </a:xfrm>
          <a:custGeom>
            <a:avLst/>
            <a:gdLst/>
            <a:ahLst/>
            <a:cxnLst/>
            <a:rect r="r" b="b" t="t" l="l"/>
            <a:pathLst>
              <a:path h="4444526" w="10018399">
                <a:moveTo>
                  <a:pt x="10018399" y="4444526"/>
                </a:moveTo>
                <a:lnTo>
                  <a:pt x="0" y="4444526"/>
                </a:lnTo>
                <a:lnTo>
                  <a:pt x="0" y="0"/>
                </a:lnTo>
                <a:lnTo>
                  <a:pt x="10018399" y="0"/>
                </a:lnTo>
                <a:lnTo>
                  <a:pt x="10018399" y="44445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86298" y="-1528458"/>
            <a:ext cx="2842953" cy="4114800"/>
          </a:xfrm>
          <a:custGeom>
            <a:avLst/>
            <a:gdLst/>
            <a:ahLst/>
            <a:cxnLst/>
            <a:rect r="r" b="b" t="t" l="l"/>
            <a:pathLst>
              <a:path h="4114800" w="2842953">
                <a:moveTo>
                  <a:pt x="2842953" y="0"/>
                </a:moveTo>
                <a:lnTo>
                  <a:pt x="0" y="0"/>
                </a:lnTo>
                <a:lnTo>
                  <a:pt x="0" y="4114800"/>
                </a:lnTo>
                <a:lnTo>
                  <a:pt x="2842953" y="4114800"/>
                </a:lnTo>
                <a:lnTo>
                  <a:pt x="284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91933">
            <a:off x="-693975" y="7790698"/>
            <a:ext cx="2723249" cy="4114800"/>
          </a:xfrm>
          <a:custGeom>
            <a:avLst/>
            <a:gdLst/>
            <a:ahLst/>
            <a:cxnLst/>
            <a:rect r="r" b="b" t="t" l="l"/>
            <a:pathLst>
              <a:path h="4114800" w="2723249">
                <a:moveTo>
                  <a:pt x="0" y="0"/>
                </a:moveTo>
                <a:lnTo>
                  <a:pt x="2723249" y="0"/>
                </a:lnTo>
                <a:lnTo>
                  <a:pt x="2723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143" y="6953361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0" y="0"/>
                </a:moveTo>
                <a:lnTo>
                  <a:pt x="2214045" y="0"/>
                </a:lnTo>
                <a:lnTo>
                  <a:pt x="2214045" y="2842164"/>
                </a:lnTo>
                <a:lnTo>
                  <a:pt x="0" y="284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509812" y="491475"/>
            <a:ext cx="2214045" cy="2842163"/>
          </a:xfrm>
          <a:custGeom>
            <a:avLst/>
            <a:gdLst/>
            <a:ahLst/>
            <a:cxnLst/>
            <a:rect r="r" b="b" t="t" l="l"/>
            <a:pathLst>
              <a:path h="2842163" w="2214045">
                <a:moveTo>
                  <a:pt x="2214045" y="2842164"/>
                </a:moveTo>
                <a:lnTo>
                  <a:pt x="0" y="2842164"/>
                </a:lnTo>
                <a:lnTo>
                  <a:pt x="0" y="0"/>
                </a:lnTo>
                <a:lnTo>
                  <a:pt x="2214045" y="0"/>
                </a:lnTo>
                <a:lnTo>
                  <a:pt x="2214045" y="284216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46002" y="4498193"/>
            <a:ext cx="11595996" cy="163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6"/>
              </a:lnSpc>
            </a:pPr>
            <a:r>
              <a:rPr lang="en-US" sz="12973">
                <a:solidFill>
                  <a:srgbClr val="4D6259"/>
                </a:solidFill>
                <a:latin typeface="CAT Neuzeit"/>
                <a:ea typeface="CAT Neuzeit"/>
                <a:cs typeface="CAT Neuzeit"/>
                <a:sym typeface="CAT Neuzei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DAG2lmOdPzU</dc:identifier>
  <dcterms:modified xsi:type="dcterms:W3CDTF">2011-08-01T06:04:30Z</dcterms:modified>
  <cp:revision>1</cp:revision>
  <dc:title>Green Simple Elegant Group Project Presentation</dc:title>
</cp:coreProperties>
</file>